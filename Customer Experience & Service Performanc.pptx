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ormorant Garamond Bold Italics" panose="020B0604020202020204" charset="0"/>
      <p:regular r:id="rId13"/>
    </p:embeddedFont>
    <p:embeddedFont>
      <p:font typeface="Quicksand" panose="020B0604020202020204" charset="0"/>
      <p:regular r:id="rId14"/>
    </p:embeddedFont>
    <p:embeddedFont>
      <p:font typeface="Quicksand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2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81052" y="2364223"/>
            <a:ext cx="8804458" cy="261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12"/>
              </a:lnSpc>
              <a:spcBef>
                <a:spcPct val="0"/>
              </a:spcBef>
            </a:pPr>
            <a:r>
              <a:rPr lang="en-US" sz="7508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Customer Experience &amp; Service Performanc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67955" y="5956100"/>
            <a:ext cx="16005751" cy="91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lang="en-US" sz="2625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Measuring satisfaction, identifying challenges, and highlighting improvement opportunities</a:t>
            </a:r>
          </a:p>
          <a:p>
            <a:pPr marL="0" lvl="0" indent="0" algn="ctr">
              <a:lnSpc>
                <a:spcPts val="3675"/>
              </a:lnSpc>
              <a:spcBef>
                <a:spcPct val="0"/>
              </a:spcBef>
            </a:pPr>
            <a:endParaRPr lang="en-US" sz="2625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649752" y="7032069"/>
            <a:ext cx="6988496" cy="52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Khafy Company</a:t>
            </a:r>
          </a:p>
        </p:txBody>
      </p:sp>
      <p:sp>
        <p:nvSpPr>
          <p:cNvPr id="8" name="Freeform 8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18943" y="2156191"/>
            <a:ext cx="7731283" cy="5641136"/>
            <a:chOff x="0" y="0"/>
            <a:chExt cx="10308378" cy="7521514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189" r="1189"/>
            <a:stretch>
              <a:fillRect/>
            </a:stretch>
          </p:blipFill>
          <p:spPr>
            <a:xfrm>
              <a:off x="0" y="0"/>
              <a:ext cx="10308378" cy="7521514"/>
            </a:xfrm>
            <a:prstGeom prst="rect">
              <a:avLst/>
            </a:prstGeom>
          </p:spPr>
        </p:pic>
      </p:grpSp>
      <p:sp>
        <p:nvSpPr>
          <p:cNvPr id="7" name="Freeform 7"/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599709"/>
            <a:ext cx="939024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Who Are Our Customers?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386084"/>
            <a:ext cx="6938067" cy="305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“Majority of users are Male and aged 35–54, primarily male. Indicates strong adoption among property owners in mid-age groups.”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Also big category don’t prefer to tell about their age</a:t>
            </a:r>
          </a:p>
          <a:p>
            <a:pPr marL="0" lvl="0" indent="0" algn="l">
              <a:lnSpc>
                <a:spcPts val="4079"/>
              </a:lnSpc>
            </a:pPr>
            <a:endParaRPr lang="en-US" sz="24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823184"/>
            <a:ext cx="693806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Current scenario: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66767" y="2597417"/>
            <a:ext cx="9874243" cy="5187314"/>
            <a:chOff x="0" y="0"/>
            <a:chExt cx="13165658" cy="6916418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t="210" b="210"/>
            <a:stretch>
              <a:fillRect/>
            </a:stretch>
          </p:blipFill>
          <p:spPr>
            <a:xfrm>
              <a:off x="0" y="0"/>
              <a:ext cx="13165658" cy="6916418"/>
            </a:xfrm>
            <a:prstGeom prst="rect">
              <a:avLst/>
            </a:prstGeom>
          </p:spPr>
        </p:pic>
      </p:grpSp>
      <p:sp>
        <p:nvSpPr>
          <p:cNvPr id="7" name="Freeform 7"/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599709"/>
            <a:ext cx="11410922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80"/>
              </a:lnSpc>
              <a:spcBef>
                <a:spcPct val="0"/>
              </a:spcBef>
            </a:pPr>
            <a:r>
              <a:rPr lang="en-US" sz="62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How Our Services Are Performing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386084"/>
            <a:ext cx="6938067" cy="305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Total Customers: 702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Total Cities Served: 41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Average Service Delay: 14.04 Minutes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Peak Working Time: Weekday Evenings (50.3%)</a:t>
            </a:r>
          </a:p>
          <a:p>
            <a:pPr marL="0" lvl="0" indent="0" algn="l">
              <a:lnSpc>
                <a:spcPts val="4079"/>
              </a:lnSpc>
            </a:pPr>
            <a:endParaRPr lang="en-US" sz="24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823184"/>
            <a:ext cx="693806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🎯 Key KPIs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510" y="2456695"/>
            <a:ext cx="5385764" cy="6426664"/>
            <a:chOff x="0" y="0"/>
            <a:chExt cx="1418473" cy="16926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51118" y="2456695"/>
            <a:ext cx="5385764" cy="6426664"/>
            <a:chOff x="0" y="0"/>
            <a:chExt cx="1418473" cy="16926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15475" y="2456695"/>
            <a:ext cx="5385764" cy="6426664"/>
            <a:chOff x="0" y="0"/>
            <a:chExt cx="1418473" cy="16926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07198" y="569416"/>
            <a:ext cx="10625870" cy="106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19"/>
              </a:lnSpc>
              <a:spcBef>
                <a:spcPct val="0"/>
              </a:spcBef>
            </a:pPr>
            <a:r>
              <a:rPr lang="en-US" sz="62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💡 Key Insights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311255" y="2961006"/>
            <a:ext cx="3091328" cy="2181853"/>
          </a:xfrm>
          <a:custGeom>
            <a:avLst/>
            <a:gdLst/>
            <a:ahLst/>
            <a:cxnLst/>
            <a:rect l="l" t="t" r="r" b="b"/>
            <a:pathLst>
              <a:path w="3091328" h="2181853">
                <a:moveTo>
                  <a:pt x="0" y="0"/>
                </a:moveTo>
                <a:lnTo>
                  <a:pt x="3091328" y="0"/>
                </a:lnTo>
                <a:lnTo>
                  <a:pt x="3091328" y="2181853"/>
                </a:lnTo>
                <a:lnTo>
                  <a:pt x="0" y="2181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16" b="-201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442001" y="2922212"/>
            <a:ext cx="2860590" cy="2259440"/>
          </a:xfrm>
          <a:custGeom>
            <a:avLst/>
            <a:gdLst/>
            <a:ahLst/>
            <a:cxnLst/>
            <a:rect l="l" t="t" r="r" b="b"/>
            <a:pathLst>
              <a:path w="2860590" h="2259440">
                <a:moveTo>
                  <a:pt x="0" y="0"/>
                </a:moveTo>
                <a:lnTo>
                  <a:pt x="2860590" y="0"/>
                </a:lnTo>
                <a:lnTo>
                  <a:pt x="2860590" y="2259440"/>
                </a:lnTo>
                <a:lnTo>
                  <a:pt x="0" y="2259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655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675082" y="2815284"/>
            <a:ext cx="4194198" cy="2473296"/>
          </a:xfrm>
          <a:custGeom>
            <a:avLst/>
            <a:gdLst/>
            <a:ahLst/>
            <a:cxnLst/>
            <a:rect l="l" t="t" r="r" b="b"/>
            <a:pathLst>
              <a:path w="4194198" h="2473296">
                <a:moveTo>
                  <a:pt x="0" y="0"/>
                </a:moveTo>
                <a:lnTo>
                  <a:pt x="4194197" y="0"/>
                </a:lnTo>
                <a:lnTo>
                  <a:pt x="4194197" y="2473296"/>
                </a:lnTo>
                <a:lnTo>
                  <a:pt x="0" y="247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70449" y="5914504"/>
            <a:ext cx="5101887" cy="305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Riyadh dominates customer activity, followed by Dammam and Jeddah — confirming that urban centers remain the primary adoption hubs.</a:t>
            </a:r>
          </a:p>
          <a:p>
            <a:pPr algn="l">
              <a:lnSpc>
                <a:spcPts val="4079"/>
              </a:lnSpc>
            </a:pPr>
            <a:endParaRPr lang="en-US" sz="24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12387" y="5616054"/>
            <a:ext cx="510188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Geographical Concentration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93057" y="5919392"/>
            <a:ext cx="5101887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“Registration and Ownership Transfer services represent the highest demand, accounting for over half of total requests.”</a:t>
            </a:r>
          </a:p>
          <a:p>
            <a:pPr algn="l">
              <a:lnSpc>
                <a:spcPts val="4079"/>
              </a:lnSpc>
            </a:pPr>
            <a:endParaRPr lang="en-US" sz="24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593057" y="5391262"/>
            <a:ext cx="510188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High Service Engagement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45624" y="6446633"/>
            <a:ext cx="4523656" cy="262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6692" lvl="1" indent="-213346" algn="l">
              <a:lnSpc>
                <a:spcPts val="3359"/>
              </a:lnSpc>
              <a:buFont typeface="Arial"/>
              <a:buChar char="•"/>
            </a:pPr>
            <a:r>
              <a:rPr lang="en-US" sz="197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Average completion time varies notably; “sorting” and “first physical registration” services show longer durations, signaling a need for process optimization.</a:t>
            </a:r>
          </a:p>
          <a:p>
            <a:pPr algn="l">
              <a:lnSpc>
                <a:spcPts val="2169"/>
              </a:lnSpc>
            </a:pPr>
            <a:endParaRPr lang="en-US" sz="1976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2169"/>
              </a:lnSpc>
            </a:pPr>
            <a:endParaRPr lang="en-US" sz="1976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157413" y="5880210"/>
            <a:ext cx="510188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Service Duration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016" y="2404326"/>
            <a:ext cx="8329745" cy="5438001"/>
            <a:chOff x="0" y="0"/>
            <a:chExt cx="1290495" cy="84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0495" cy="842489"/>
            </a:xfrm>
            <a:custGeom>
              <a:avLst/>
              <a:gdLst/>
              <a:ahLst/>
              <a:cxnLst/>
              <a:rect l="l" t="t" r="r" b="b"/>
              <a:pathLst>
                <a:path w="1290495" h="842489">
                  <a:moveTo>
                    <a:pt x="21377" y="0"/>
                  </a:moveTo>
                  <a:lnTo>
                    <a:pt x="1269119" y="0"/>
                  </a:lnTo>
                  <a:cubicBezTo>
                    <a:pt x="1274788" y="0"/>
                    <a:pt x="1280225" y="2252"/>
                    <a:pt x="1284234" y="6261"/>
                  </a:cubicBezTo>
                  <a:cubicBezTo>
                    <a:pt x="1288243" y="10270"/>
                    <a:pt x="1290495" y="15707"/>
                    <a:pt x="1290495" y="21377"/>
                  </a:cubicBezTo>
                  <a:lnTo>
                    <a:pt x="1290495" y="821112"/>
                  </a:lnTo>
                  <a:cubicBezTo>
                    <a:pt x="1290495" y="826781"/>
                    <a:pt x="1288243" y="832219"/>
                    <a:pt x="1284234" y="836228"/>
                  </a:cubicBezTo>
                  <a:cubicBezTo>
                    <a:pt x="1280225" y="840237"/>
                    <a:pt x="1274788" y="842489"/>
                    <a:pt x="1269119" y="842489"/>
                  </a:cubicBezTo>
                  <a:lnTo>
                    <a:pt x="21377" y="842489"/>
                  </a:lnTo>
                  <a:cubicBezTo>
                    <a:pt x="15707" y="842489"/>
                    <a:pt x="10270" y="840237"/>
                    <a:pt x="6261" y="836228"/>
                  </a:cubicBezTo>
                  <a:cubicBezTo>
                    <a:pt x="2252" y="832219"/>
                    <a:pt x="0" y="826781"/>
                    <a:pt x="0" y="821112"/>
                  </a:cubicBezTo>
                  <a:lnTo>
                    <a:pt x="0" y="21377"/>
                  </a:lnTo>
                  <a:cubicBezTo>
                    <a:pt x="0" y="15707"/>
                    <a:pt x="2252" y="10270"/>
                    <a:pt x="6261" y="6261"/>
                  </a:cubicBezTo>
                  <a:cubicBezTo>
                    <a:pt x="10270" y="2252"/>
                    <a:pt x="15707" y="0"/>
                    <a:pt x="21377" y="0"/>
                  </a:cubicBezTo>
                  <a:close/>
                </a:path>
              </a:pathLst>
            </a:custGeom>
            <a:blipFill>
              <a:blip r:embed="rId2"/>
              <a:stretch>
                <a:fillRect l="-3648" r="-364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449761" y="0"/>
            <a:ext cx="9838239" cy="10287000"/>
            <a:chOff x="0" y="0"/>
            <a:chExt cx="2591141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1028700" y="974152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460760" y="199158"/>
            <a:ext cx="12908120" cy="76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40"/>
              </a:lnSpc>
              <a:spcBef>
                <a:spcPct val="0"/>
              </a:spcBef>
            </a:pPr>
            <a:r>
              <a:rPr lang="en-US" sz="445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Order Distribution by Service and City Relation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52617" y="2027481"/>
            <a:ext cx="8606683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Service requests are primarily local and concentrated in core operations such as registration and transfer.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59399" y="3468402"/>
            <a:ext cx="8606683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This indicates customer familiarity with digital property management in their own city, while cross-city requests remain minimal.</a:t>
            </a:r>
          </a:p>
          <a:p>
            <a:pPr algn="l">
              <a:lnSpc>
                <a:spcPts val="4079"/>
              </a:lnSpc>
            </a:pPr>
            <a:endParaRPr lang="en-US" sz="24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65768" y="3907111"/>
            <a:ext cx="7956464" cy="571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3907" lvl="1" indent="-206954" algn="ctr">
              <a:lnSpc>
                <a:spcPts val="3259"/>
              </a:lnSpc>
              <a:buFont typeface="Arial"/>
              <a:buChar char="•"/>
            </a:pPr>
            <a:r>
              <a:rPr lang="en-US" sz="191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“Most service requests occur during weekday evenings, driven mainly by property registration and ownership transfer transactions.</a:t>
            </a:r>
          </a:p>
          <a:p>
            <a:pPr marL="413907" lvl="1" indent="-206954" algn="ctr">
              <a:lnSpc>
                <a:spcPts val="3259"/>
              </a:lnSpc>
              <a:buFont typeface="Arial"/>
              <a:buChar char="•"/>
            </a:pPr>
            <a:r>
              <a:rPr lang="en-US" sz="191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While response times remain stable overall, certain high-volume services such as correction and merging show longer completion durations, indicating areas for process streamlining.”</a:t>
            </a:r>
          </a:p>
          <a:p>
            <a:pPr marL="413907" lvl="1" indent="-206954" algn="ctr">
              <a:lnSpc>
                <a:spcPts val="3259"/>
              </a:lnSpc>
              <a:buFont typeface="Arial"/>
              <a:buChar char="•"/>
            </a:pPr>
            <a:r>
              <a:rPr lang="en-US" sz="191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While service adoption is strong across cities, the first registration process tends to take longer when the property is located in a different city.</a:t>
            </a:r>
          </a:p>
          <a:p>
            <a:pPr marL="413907" lvl="1" indent="-206954" algn="ctr">
              <a:lnSpc>
                <a:spcPts val="3259"/>
              </a:lnSpc>
              <a:buFont typeface="Arial"/>
              <a:buChar char="•"/>
            </a:pPr>
            <a:r>
              <a:rPr lang="en-US" sz="191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This reflects logistical dependencies between regional offices and suggests potential efficiency gains through centralized digital verification.</a:t>
            </a:r>
          </a:p>
          <a:p>
            <a:pPr algn="ctr">
              <a:lnSpc>
                <a:spcPts val="3259"/>
              </a:lnSpc>
            </a:pPr>
            <a:endParaRPr lang="en-US" sz="1917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ctr">
              <a:lnSpc>
                <a:spcPts val="3259"/>
              </a:lnSpc>
            </a:pPr>
            <a:endParaRPr lang="en-US" sz="1917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5738078" y="8952702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99709"/>
            <a:ext cx="1080363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Key Takeaway</a:t>
            </a:r>
          </a:p>
        </p:txBody>
      </p:sp>
      <p:sp>
        <p:nvSpPr>
          <p:cNvPr id="7" name="Freeform 7"/>
          <p:cNvSpPr/>
          <p:nvPr/>
        </p:nvSpPr>
        <p:spPr>
          <a:xfrm>
            <a:off x="8144199" y="913335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88489" y="6074763"/>
            <a:ext cx="4344915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1791219" y="9286875"/>
            <a:ext cx="4346753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173947" y="9732246"/>
            <a:ext cx="4716390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5360" y="9955862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123414" y="6516945"/>
            <a:ext cx="6135886" cy="2356224"/>
          </a:xfrm>
          <a:custGeom>
            <a:avLst/>
            <a:gdLst/>
            <a:ahLst/>
            <a:cxnLst/>
            <a:rect l="l" t="t" r="r" b="b"/>
            <a:pathLst>
              <a:path w="6135886" h="2356224">
                <a:moveTo>
                  <a:pt x="0" y="0"/>
                </a:moveTo>
                <a:lnTo>
                  <a:pt x="6135886" y="0"/>
                </a:lnTo>
                <a:lnTo>
                  <a:pt x="6135886" y="2356224"/>
                </a:lnTo>
                <a:lnTo>
                  <a:pt x="0" y="2356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0" b="-43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3332539"/>
            <a:ext cx="6780119" cy="2398153"/>
          </a:xfrm>
          <a:custGeom>
            <a:avLst/>
            <a:gdLst/>
            <a:ahLst/>
            <a:cxnLst/>
            <a:rect l="l" t="t" r="r" b="b"/>
            <a:pathLst>
              <a:path w="6780119" h="2398153">
                <a:moveTo>
                  <a:pt x="0" y="0"/>
                </a:moveTo>
                <a:lnTo>
                  <a:pt x="6780119" y="0"/>
                </a:lnTo>
                <a:lnTo>
                  <a:pt x="6780119" y="2398153"/>
                </a:lnTo>
                <a:lnTo>
                  <a:pt x="0" y="2398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63476" y="3491168"/>
            <a:ext cx="6429491" cy="2139525"/>
          </a:xfrm>
          <a:custGeom>
            <a:avLst/>
            <a:gdLst/>
            <a:ahLst/>
            <a:cxnLst/>
            <a:rect l="l" t="t" r="r" b="b"/>
            <a:pathLst>
              <a:path w="6429491" h="2139525">
                <a:moveTo>
                  <a:pt x="0" y="0"/>
                </a:moveTo>
                <a:lnTo>
                  <a:pt x="6429491" y="0"/>
                </a:lnTo>
                <a:lnTo>
                  <a:pt x="6429491" y="2139525"/>
                </a:lnTo>
                <a:lnTo>
                  <a:pt x="0" y="2139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07050" y="6741513"/>
            <a:ext cx="5973070" cy="2693737"/>
          </a:xfrm>
          <a:custGeom>
            <a:avLst/>
            <a:gdLst/>
            <a:ahLst/>
            <a:cxnLst/>
            <a:rect l="l" t="t" r="r" b="b"/>
            <a:pathLst>
              <a:path w="5973070" h="2693737">
                <a:moveTo>
                  <a:pt x="0" y="0"/>
                </a:moveTo>
                <a:lnTo>
                  <a:pt x="5973069" y="0"/>
                </a:lnTo>
                <a:lnTo>
                  <a:pt x="5973069" y="2693737"/>
                </a:lnTo>
                <a:lnTo>
                  <a:pt x="0" y="26937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58782" y="1125370"/>
            <a:ext cx="10886687" cy="156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4"/>
              </a:lnSpc>
            </a:pPr>
            <a:r>
              <a:rPr lang="en-US" sz="3274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Customer Experience &amp; Satisfaction Summary</a:t>
            </a:r>
          </a:p>
          <a:p>
            <a:pPr algn="l">
              <a:lnSpc>
                <a:spcPts val="4024"/>
              </a:lnSpc>
            </a:pPr>
            <a:endParaRPr lang="en-US" sz="3274" b="1" i="1">
              <a:solidFill>
                <a:srgbClr val="0F466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  <a:p>
            <a:pPr marL="0" lvl="0" indent="0" algn="l">
              <a:lnSpc>
                <a:spcPts val="4024"/>
              </a:lnSpc>
              <a:spcBef>
                <a:spcPct val="0"/>
              </a:spcBef>
            </a:pPr>
            <a:endParaRPr lang="en-US" sz="3274" b="1" i="1">
              <a:solidFill>
                <a:srgbClr val="0F466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2800288"/>
            <a:ext cx="4045751" cy="758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228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Key Customer Challenges</a:t>
            </a:r>
          </a:p>
          <a:p>
            <a:pPr algn="r">
              <a:lnSpc>
                <a:spcPts val="1439"/>
              </a:lnSpc>
            </a:pPr>
            <a:endParaRPr lang="en-US" sz="2228" b="1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0" lvl="0" indent="0" algn="r">
              <a:lnSpc>
                <a:spcPts val="1439"/>
              </a:lnSpc>
              <a:spcBef>
                <a:spcPct val="0"/>
              </a:spcBef>
            </a:pPr>
            <a:endParaRPr lang="en-US" sz="2228" b="1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911071" y="2781238"/>
            <a:ext cx="5348229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Dissatisfaction &amp; Experience: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204" y="6131807"/>
            <a:ext cx="4227159" cy="722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</a:pPr>
            <a:r>
              <a:rPr lang="en-US" sz="20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Improvement Suggestions</a:t>
            </a:r>
          </a:p>
          <a:p>
            <a:pPr algn="r">
              <a:lnSpc>
                <a:spcPts val="1398"/>
              </a:lnSpc>
            </a:pPr>
            <a:endParaRPr lang="en-US" sz="2099" b="1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0" lvl="0" indent="0" algn="r">
              <a:lnSpc>
                <a:spcPts val="1398"/>
              </a:lnSpc>
              <a:spcBef>
                <a:spcPct val="0"/>
              </a:spcBef>
            </a:pPr>
            <a:endParaRPr lang="en-US" sz="2099" b="1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93572" y="714009"/>
            <a:ext cx="4627349" cy="10287000"/>
            <a:chOff x="0" y="0"/>
            <a:chExt cx="121872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480147" y="1925117"/>
            <a:ext cx="10140774" cy="5260527"/>
          </a:xfrm>
          <a:custGeom>
            <a:avLst/>
            <a:gdLst/>
            <a:ahLst/>
            <a:cxnLst/>
            <a:rect l="l" t="t" r="r" b="b"/>
            <a:pathLst>
              <a:path w="10140774" h="5260527">
                <a:moveTo>
                  <a:pt x="0" y="0"/>
                </a:moveTo>
                <a:lnTo>
                  <a:pt x="10140774" y="0"/>
                </a:lnTo>
                <a:lnTo>
                  <a:pt x="10140774" y="5260527"/>
                </a:lnTo>
                <a:lnTo>
                  <a:pt x="0" y="5260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99709"/>
            <a:ext cx="939161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Customer Recommendation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0628" y="5000625"/>
            <a:ext cx="6435993" cy="291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434" lvl="1" indent="-298717" algn="l">
              <a:lnSpc>
                <a:spcPts val="4704"/>
              </a:lnSpc>
              <a:buFont typeface="Arial"/>
              <a:buChar char="•"/>
            </a:pPr>
            <a:r>
              <a:rPr lang="en-US" sz="27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Maintaining this trust will depend on continuous improvement in technical performance and communication consistency.</a:t>
            </a:r>
          </a:p>
          <a:p>
            <a:pPr algn="l">
              <a:lnSpc>
                <a:spcPts val="4704"/>
              </a:lnSpc>
            </a:pPr>
            <a:endParaRPr lang="en-US" sz="2767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0628" y="2691060"/>
            <a:ext cx="7112239" cy="170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7538" lvl="1" indent="-293769" algn="l">
              <a:lnSpc>
                <a:spcPts val="4626"/>
              </a:lnSpc>
              <a:buFont typeface="Arial"/>
              <a:buChar char="•"/>
            </a:pPr>
            <a:r>
              <a:rPr lang="en-US" sz="272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service achieved an exceptionally high NPS score, indicating strong customer loyalty and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669551"/>
            <a:ext cx="7514133" cy="6330250"/>
            <a:chOff x="0" y="0"/>
            <a:chExt cx="1979031" cy="16672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9031" cy="1667227"/>
            </a:xfrm>
            <a:custGeom>
              <a:avLst/>
              <a:gdLst/>
              <a:ahLst/>
              <a:cxnLst/>
              <a:rect l="l" t="t" r="r" b="b"/>
              <a:pathLst>
                <a:path w="1979031" h="1667227">
                  <a:moveTo>
                    <a:pt x="52546" y="0"/>
                  </a:moveTo>
                  <a:lnTo>
                    <a:pt x="1926485" y="0"/>
                  </a:lnTo>
                  <a:cubicBezTo>
                    <a:pt x="1955505" y="0"/>
                    <a:pt x="1979031" y="23526"/>
                    <a:pt x="1979031" y="52546"/>
                  </a:cubicBezTo>
                  <a:lnTo>
                    <a:pt x="1979031" y="1614681"/>
                  </a:lnTo>
                  <a:cubicBezTo>
                    <a:pt x="1979031" y="1628617"/>
                    <a:pt x="1973495" y="1641982"/>
                    <a:pt x="1963641" y="1651836"/>
                  </a:cubicBezTo>
                  <a:cubicBezTo>
                    <a:pt x="1953786" y="1661690"/>
                    <a:pt x="1940421" y="1667227"/>
                    <a:pt x="1926485" y="1667227"/>
                  </a:cubicBezTo>
                  <a:lnTo>
                    <a:pt x="52546" y="1667227"/>
                  </a:lnTo>
                  <a:cubicBezTo>
                    <a:pt x="38610" y="1667227"/>
                    <a:pt x="25245" y="1661690"/>
                    <a:pt x="15390" y="1651836"/>
                  </a:cubicBezTo>
                  <a:cubicBezTo>
                    <a:pt x="5536" y="1641982"/>
                    <a:pt x="0" y="1628617"/>
                    <a:pt x="0" y="1614681"/>
                  </a:cubicBezTo>
                  <a:lnTo>
                    <a:pt x="0" y="52546"/>
                  </a:lnTo>
                  <a:cubicBezTo>
                    <a:pt x="0" y="23526"/>
                    <a:pt x="23526" y="0"/>
                    <a:pt x="525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979031" cy="1791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45167" y="3669551"/>
            <a:ext cx="7514133" cy="6260364"/>
            <a:chOff x="0" y="0"/>
            <a:chExt cx="1979031" cy="16488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79031" cy="1648820"/>
            </a:xfrm>
            <a:custGeom>
              <a:avLst/>
              <a:gdLst/>
              <a:ahLst/>
              <a:cxnLst/>
              <a:rect l="l" t="t" r="r" b="b"/>
              <a:pathLst>
                <a:path w="1979031" h="1648820">
                  <a:moveTo>
                    <a:pt x="52546" y="0"/>
                  </a:moveTo>
                  <a:lnTo>
                    <a:pt x="1926485" y="0"/>
                  </a:lnTo>
                  <a:cubicBezTo>
                    <a:pt x="1955505" y="0"/>
                    <a:pt x="1979031" y="23526"/>
                    <a:pt x="1979031" y="52546"/>
                  </a:cubicBezTo>
                  <a:lnTo>
                    <a:pt x="1979031" y="1596274"/>
                  </a:lnTo>
                  <a:cubicBezTo>
                    <a:pt x="1979031" y="1610210"/>
                    <a:pt x="1973495" y="1623575"/>
                    <a:pt x="1963641" y="1633430"/>
                  </a:cubicBezTo>
                  <a:cubicBezTo>
                    <a:pt x="1953786" y="1643284"/>
                    <a:pt x="1940421" y="1648820"/>
                    <a:pt x="1926485" y="1648820"/>
                  </a:cubicBezTo>
                  <a:lnTo>
                    <a:pt x="52546" y="1648820"/>
                  </a:lnTo>
                  <a:cubicBezTo>
                    <a:pt x="38610" y="1648820"/>
                    <a:pt x="25245" y="1643284"/>
                    <a:pt x="15390" y="1633430"/>
                  </a:cubicBezTo>
                  <a:cubicBezTo>
                    <a:pt x="5536" y="1623575"/>
                    <a:pt x="0" y="1610210"/>
                    <a:pt x="0" y="1596274"/>
                  </a:cubicBezTo>
                  <a:lnTo>
                    <a:pt x="0" y="52546"/>
                  </a:lnTo>
                  <a:cubicBezTo>
                    <a:pt x="0" y="23526"/>
                    <a:pt x="23526" y="0"/>
                    <a:pt x="525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1979031" cy="1772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929305" y="4031887"/>
            <a:ext cx="7225849" cy="4717097"/>
          </a:xfrm>
          <a:custGeom>
            <a:avLst/>
            <a:gdLst/>
            <a:ahLst/>
            <a:cxnLst/>
            <a:rect l="l" t="t" r="r" b="b"/>
            <a:pathLst>
              <a:path w="7225849" h="4717097">
                <a:moveTo>
                  <a:pt x="0" y="0"/>
                </a:moveTo>
                <a:lnTo>
                  <a:pt x="7225849" y="0"/>
                </a:lnTo>
                <a:lnTo>
                  <a:pt x="7225849" y="4717097"/>
                </a:lnTo>
                <a:lnTo>
                  <a:pt x="0" y="4717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3" r="-283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79268" y="4527031"/>
            <a:ext cx="7212998" cy="4349410"/>
          </a:xfrm>
          <a:custGeom>
            <a:avLst/>
            <a:gdLst/>
            <a:ahLst/>
            <a:cxnLst/>
            <a:rect l="l" t="t" r="r" b="b"/>
            <a:pathLst>
              <a:path w="7212998" h="4349410">
                <a:moveTo>
                  <a:pt x="0" y="0"/>
                </a:moveTo>
                <a:lnTo>
                  <a:pt x="7212997" y="0"/>
                </a:lnTo>
                <a:lnTo>
                  <a:pt x="7212997" y="4349411"/>
                </a:lnTo>
                <a:lnTo>
                  <a:pt x="0" y="4349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599709"/>
            <a:ext cx="11804762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Customer Satisfaction by Service Type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934897"/>
            <a:ext cx="16230600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Enhancing service efficiency particularly in time-intensive processes like correction and transfer will directly boost satisfaction and trust.</a:t>
            </a: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Shorter wait times and smoother workflows equal happier, more loyal customers.</a:t>
            </a:r>
          </a:p>
          <a:p>
            <a:pPr algn="l">
              <a:lnSpc>
                <a:spcPts val="4079"/>
              </a:lnSpc>
            </a:pPr>
            <a:endParaRPr lang="en-US" sz="24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>
              <a:lnSpc>
                <a:spcPts val="4079"/>
              </a:lnSpc>
            </a:pPr>
            <a:endParaRPr lang="en-US" sz="24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99709"/>
            <a:ext cx="115348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16256" y="4231184"/>
            <a:ext cx="10655487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Customer feedback reflects overall satisfaction but highlights systemic issues in technical performance, clarity of process, and response time.</a:t>
            </a:r>
          </a:p>
          <a:p>
            <a:pPr algn="ctr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Addressing these will enhance trust, streamline digital interactions, and further elevate customer experience.</a:t>
            </a:r>
          </a:p>
          <a:p>
            <a:pPr marL="0" lvl="0" indent="0" algn="ctr">
              <a:lnSpc>
                <a:spcPts val="4079"/>
              </a:lnSpc>
            </a:pPr>
            <a:endParaRPr lang="en-US" sz="24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04001" y="801952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423</Words>
  <Application>Microsoft Office PowerPoint</Application>
  <PresentationFormat>Custom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Cormorant Garamond Bold Italics</vt:lpstr>
      <vt:lpstr>Arial</vt:lpstr>
      <vt:lpstr>Quicksand</vt:lpstr>
      <vt:lpstr>Calibri</vt:lpstr>
      <vt:lpstr>Quicksand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Modern Enhancing Sales Strategy Presentation</dc:title>
  <dc:creator>Radwa Abdelkewy Elfeky</dc:creator>
  <cp:lastModifiedBy>Radwa Abdelkewy Elfeky</cp:lastModifiedBy>
  <cp:revision>1</cp:revision>
  <dcterms:created xsi:type="dcterms:W3CDTF">2006-08-16T00:00:00Z</dcterms:created>
  <dcterms:modified xsi:type="dcterms:W3CDTF">2025-10-27T09:15:33Z</dcterms:modified>
  <dc:identifier>DAG29f0NvD8</dc:identifier>
</cp:coreProperties>
</file>