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56" r:id="rId3"/>
    <p:sldId id="257" r:id="rId4"/>
    <p:sldId id="258" r:id="rId5"/>
    <p:sldId id="264" r:id="rId6"/>
    <p:sldId id="260" r:id="rId7"/>
    <p:sldId id="267" r:id="rId8"/>
    <p:sldId id="261" r:id="rId9"/>
    <p:sldId id="265" r:id="rId10"/>
    <p:sldId id="263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1D9B5-8352-4D79-8108-FBB7E35FA3E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1A50C-088B-42F3-9B89-733CFF1F4E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0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9406-0D40-E7A5-E096-8B55A02D5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E87FC-8650-6644-F5EE-A1E54CC0C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9F15-2413-121B-E631-682F6F7F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B7EF0-E06D-8720-1839-3C23246F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130B-9F75-A87A-3F03-7E203943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2506-A6B8-7CC6-8B77-4CFD439D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0FF35-5561-D77D-BE49-989B76E22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0DA85-B37C-6BDD-B76E-852FA115F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7F03F-9D8A-B651-6560-4D77873F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D896-C9E3-335A-9418-7F3C8F62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30EF-5028-29A7-8CCF-9306CED6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7EF7B-B386-325C-40BE-0AB57AEB1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44432-F4D2-A011-B286-4DB3F81B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DB09E-E068-FA41-B783-1534F41B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4FCE-D10B-D099-D4AB-7BB607C7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5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C6E6-DA85-47FF-0C59-DBFC58429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AA11-A915-DE13-C073-93E898A7B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1460E-9E6C-E55D-7BA7-BD28BB874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A71CD-9230-31C9-F275-69BD11D0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2614B-B1D9-1F21-6CC6-1461B72E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2B7E4-D1C8-788B-CE9D-5E4E44EA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1182-02C8-053F-0C22-279CFD464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3D355-6B40-F9E2-118E-F997666E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2995D-CF3D-CC72-1CF9-4D3262155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B2742-3D0E-0E37-0DA8-A95889657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BCAA8-44B7-EDC0-EF82-8B07BAAA1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B1A86-3906-CB1F-D88D-85009DF1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36EBB-1236-E238-5C71-A1DDD57C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371E0-4427-B520-67AF-43A2D38D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57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86FE-B61A-7F73-AAD7-8035904C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E2F68-16BF-AA54-954B-7814532E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7BFCA-8592-03FF-2EAD-90F1CDF9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E239D-6E17-8DEA-DD72-A14F1722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309D9-37D6-CE4E-3B6C-57101AC70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67A39-E70F-DFC4-D974-28D977E0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33E33-E28A-7B9F-8446-3DE2E813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5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2428-D31C-FB76-D946-974F1398E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2D7D-78EB-3315-6729-8D58A3D14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F8F25-9636-FE30-C9DC-2E5319CD4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2AAB7-B3E6-CA43-969F-6B6D3EB6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5CFF1-F373-F2B1-0C82-0A8F3708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32418-4BDF-2FB3-C29A-8C340382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3073-68ED-6FF7-BC8C-165CE2C4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23D2E-6A26-D3EE-FACC-5516906ED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BEA3B-0D43-C083-153A-91F56A53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A90A2-5568-DDDB-DFC9-A1682859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8C5D3-BA9B-854E-9BB2-962A9938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0C299-A902-7447-3E34-0CC64FA7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9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55D3-538B-7A7E-DE45-B4F2690F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611A-9404-508F-76A1-2341FAF3A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864D9-AE81-FDFC-80AA-1C46A348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E88F-E184-CB41-1515-C675A5A1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96B09-A6D6-AC76-F08C-F79596ED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7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AB58F-AFEE-9E12-EDA8-F8AE49D8B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0A1A5-B909-826F-DA66-7DE2D5C20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88DBC-3853-723C-A835-3615A969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F42EE-46BE-CE18-238A-EEBAD55C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8E568-F266-20B6-051D-FC8540A6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9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81433-8812-285A-F4CB-513FF6C2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B51DB-C984-C72B-231B-95350A7EF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12CCE-A7DB-03AC-9096-E756177A3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EA495-60D2-480C-B00D-81B7440D7B80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EA66B-2093-C428-4201-9E9E7C6AC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5BE4-3C9F-CAB8-C4E8-74C70253F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D0114-181B-4E48-BA4E-0984DFF57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1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0CDF-0DA9-C676-C388-5B1F6E32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Final Report Represented From </a:t>
            </a:r>
            <a:r>
              <a:rPr lang="en-US" sz="3200" b="1" dirty="0" err="1">
                <a:solidFill>
                  <a:srgbClr val="C00000"/>
                </a:solidFill>
              </a:rPr>
              <a:t>Dataloops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44C2-C760-AC9E-E9FC-B86B61E31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About our company </a:t>
            </a:r>
          </a:p>
          <a:p>
            <a:r>
              <a:rPr lang="en-US" sz="2400" b="0" i="0" dirty="0" err="1">
                <a:effectLst/>
                <a:latin typeface="-apple-system"/>
              </a:rPr>
              <a:t>Dataloops</a:t>
            </a:r>
            <a:r>
              <a:rPr lang="en-US" sz="2400" b="0" i="0" dirty="0">
                <a:effectLst/>
                <a:latin typeface="-apple-system"/>
              </a:rPr>
              <a:t> provides AI software solutions for businesses, specializing in natural language processing, machine learning, and computer vision to optimize operations and improve customer experience</a:t>
            </a:r>
            <a:r>
              <a:rPr lang="en-US" b="0" i="0" dirty="0">
                <a:effectLst/>
                <a:latin typeface="-apple-system"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2DC477C1-F697-413D-13F1-8486B2E29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197" y="1"/>
            <a:ext cx="830580" cy="8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3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4B59-8206-824F-1B72-511AC0F37D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Report about </a:t>
            </a:r>
            <a:r>
              <a:rPr lang="en-US" sz="3600" i="0" dirty="0">
                <a:solidFill>
                  <a:srgbClr val="C00000"/>
                </a:solidFill>
                <a:effectLst/>
                <a:latin typeface="zeitung"/>
              </a:rPr>
              <a:t>Mexico Restaurant</a:t>
            </a:r>
            <a:r>
              <a:rPr lang="en-US" sz="3600" dirty="0">
                <a:solidFill>
                  <a:srgbClr val="C00000"/>
                </a:solidFill>
                <a:latin typeface="zeitung"/>
              </a:rPr>
              <a:t> </a:t>
            </a:r>
            <a:r>
              <a:rPr lang="en-US" sz="3600" i="0" dirty="0">
                <a:solidFill>
                  <a:srgbClr val="C00000"/>
                </a:solidFill>
                <a:effectLst/>
                <a:latin typeface="zeitung"/>
              </a:rPr>
              <a:t>Analysis</a:t>
            </a:r>
            <a:br>
              <a:rPr lang="en-US" b="1" i="0" dirty="0">
                <a:solidFill>
                  <a:srgbClr val="202124"/>
                </a:solidFill>
                <a:effectLst/>
                <a:latin typeface="zeitung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AEC5-20B6-02A3-3F8D-63AD6DF65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dirty="0">
                <a:solidFill>
                  <a:srgbClr val="EE0000"/>
                </a:solidFill>
              </a:rPr>
              <a:t>Problem statement :</a:t>
            </a:r>
          </a:p>
          <a:p>
            <a:pPr algn="l"/>
            <a:r>
              <a:rPr lang="en-US" sz="1900" dirty="0"/>
              <a:t>We have data about Mexico Restaurants need to discover it </a:t>
            </a:r>
          </a:p>
          <a:p>
            <a:pPr algn="l"/>
            <a:r>
              <a:rPr lang="en-US" dirty="0">
                <a:solidFill>
                  <a:srgbClr val="EE0000"/>
                </a:solidFill>
                <a:latin typeface="Inter"/>
              </a:rPr>
              <a:t>Goal from Report:</a:t>
            </a:r>
            <a:endParaRPr lang="en-US" b="0" i="0" dirty="0">
              <a:solidFill>
                <a:srgbClr val="EE0000"/>
              </a:solidFill>
              <a:effectLst/>
              <a:latin typeface="Inter"/>
            </a:endParaRPr>
          </a:p>
          <a:p>
            <a:pPr algn="l"/>
            <a:r>
              <a:rPr lang="en-US" sz="2100" b="0" i="0" dirty="0">
                <a:solidFill>
                  <a:srgbClr val="3C4043"/>
                </a:solidFill>
                <a:effectLst/>
                <a:latin typeface="Inter"/>
              </a:rPr>
              <a:t>Dive into this rich dataset to explore the world of consumer preferences, restaurant ratings, and culinary trends, analyze customer behavior, and optimize restaurant operations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.</a:t>
            </a:r>
            <a:endParaRPr lang="en-US" dirty="0"/>
          </a:p>
        </p:txBody>
      </p:sp>
      <p:pic>
        <p:nvPicPr>
          <p:cNvPr id="5" name="Picture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7CBD180F-C416-5279-644F-B80BBE588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960" y="0"/>
            <a:ext cx="719137" cy="7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8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E73D-737A-CB82-7564-DC4AB973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EE0000"/>
                </a:solidFill>
              </a:rPr>
              <a:t>Consumer</a:t>
            </a:r>
            <a:r>
              <a:rPr lang="ar-EG" sz="2400" dirty="0">
                <a:solidFill>
                  <a:srgbClr val="EE0000"/>
                </a:solidFill>
              </a:rPr>
              <a:t> </a:t>
            </a:r>
            <a:r>
              <a:rPr lang="en-US" sz="2400" dirty="0">
                <a:solidFill>
                  <a:srgbClr val="EE0000"/>
                </a:solidFill>
              </a:rPr>
              <a:t>Segments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31E0F-2F54-0E52-B16C-38B7B1075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At first Start to deep on consumers segments and track their preferences in Data Features. </a:t>
            </a:r>
          </a:p>
          <a:p>
            <a:r>
              <a:rPr lang="en-US" dirty="0"/>
              <a:t>We noticed our customers from three segments “</a:t>
            </a:r>
            <a:r>
              <a:rPr lang="en-US" dirty="0">
                <a:solidFill>
                  <a:schemeClr val="accent2"/>
                </a:solidFill>
              </a:rPr>
              <a:t>Students, Employment , Unemployment </a:t>
            </a:r>
            <a:r>
              <a:rPr lang="en-US" dirty="0"/>
              <a:t>“</a:t>
            </a:r>
          </a:p>
          <a:p>
            <a:r>
              <a:rPr lang="en-US" dirty="0"/>
              <a:t>But still have categories for this segments</a:t>
            </a:r>
          </a:p>
          <a:p>
            <a:r>
              <a:rPr lang="en-US" dirty="0"/>
              <a:t>So , discovered marital status and noticed that some of students is married ?!</a:t>
            </a:r>
          </a:p>
          <a:p>
            <a:r>
              <a:rPr lang="en-US" dirty="0"/>
              <a:t>This lead us to check point if this Married students have children's or not from checking Dependents $ Independents for them.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315D2D-74A8-FFFF-5A3A-BC62CB27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933" y="22860"/>
            <a:ext cx="713294" cy="71939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1239CD9-C0BE-206B-DF4B-082532BB0B0C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4F9573-5072-7E65-E493-F685519E0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2" y="996950"/>
            <a:ext cx="61722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5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4F7F-C347-0593-77FD-928F1266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Family of consumer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29630-1E08-EAE2-AD6A-0138DA6ED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dirty="0"/>
              <a:t>The result was unexpected some of students are married and some of them are Dependent</a:t>
            </a:r>
          </a:p>
          <a:p>
            <a:r>
              <a:rPr lang="en-US" sz="1800" b="1" dirty="0">
                <a:solidFill>
                  <a:srgbClr val="EE0000"/>
                </a:solidFill>
              </a:rPr>
              <a:t> “that mean they have children”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Here some of students have children</a:t>
            </a:r>
          </a:p>
          <a:p>
            <a:r>
              <a:rPr lang="en-US" dirty="0">
                <a:solidFill>
                  <a:srgbClr val="EE0000"/>
                </a:solidFill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may be discovered Error in this data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From previous analysis we have two unemployed consumer one married and another not married , here the two unemployed consumer are in kids' category.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849F5-B7D9-FA59-D1A0-C4FB3BA7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173" y="0"/>
            <a:ext cx="713294" cy="719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AA4722-2577-7F7C-8273-321CE2914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296" y="987425"/>
            <a:ext cx="6051916" cy="4778375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83D551C-3E31-3F9B-11BB-B602FAAB25B6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2837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1C0A-B1F1-F0BC-5921-DAE47C22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56319" cy="160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Discovery Age with Segments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9722E-3579-3C7C-D99A-FA4C69D5F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Here Average of Age for our consumers according to occupation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So, we can notice that the average of Age of Unemployed is 21.5 and this may be suitable for married and get child.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05FEF-D047-D58E-0051-BD674B708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876" y="1310810"/>
            <a:ext cx="6172200" cy="4871290"/>
          </a:xfrm>
          <a:prstGeom prst="rect">
            <a:avLst/>
          </a:prstGeom>
        </p:spPr>
      </p:pic>
      <p:pic>
        <p:nvPicPr>
          <p:cNvPr id="12" name="Picture Placeholder 11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B7E9D45E-955E-E2A5-A2ED-7F6ADCD5B5C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095463" y="1"/>
            <a:ext cx="1096536" cy="992458"/>
          </a:xfrm>
        </p:spPr>
      </p:pic>
    </p:spTree>
    <p:extLst>
      <p:ext uri="{BB962C8B-B14F-4D97-AF65-F5344CB8AC3E}">
        <p14:creationId xmlns:p14="http://schemas.microsoft.com/office/powerpoint/2010/main" val="198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D081-B57E-0E61-8C48-70ED05C4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Ratio of smoking with all segments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8B1B0-B66F-9EF1-EF08-67A32C7FC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have small ratio  of smoking in our data most of our consumers aren’t smokers 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“Almost of them in students”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42685C-D0D9-B5FD-3B5E-6A8200A8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86" y="995363"/>
            <a:ext cx="6172199" cy="4867274"/>
          </a:xfrm>
          <a:prstGeom prst="rect">
            <a:avLst/>
          </a:prstGeom>
        </p:spPr>
      </p:pic>
      <p:pic>
        <p:nvPicPr>
          <p:cNvPr id="12" name="Picture Placeholder 11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736255D0-0648-3ADD-7122-9395EC6B0CF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173522" y="33454"/>
            <a:ext cx="884663" cy="825190"/>
          </a:xfrm>
        </p:spPr>
      </p:pic>
    </p:spTree>
    <p:extLst>
      <p:ext uri="{BB962C8B-B14F-4D97-AF65-F5344CB8AC3E}">
        <p14:creationId xmlns:p14="http://schemas.microsoft.com/office/powerpoint/2010/main" val="121187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C847-3484-1F0C-5A5D-50E9EB14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Level of Drinking For Consumers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EBD65-3E15-9747-C164-1AB304557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see that small segment of our consumers are smokers but here all consumers are drinkers but with difference levels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 level of drinking is Casual Drinker with Students.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7F2FD-10B1-32EE-907F-FA1D7EF3E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678" y="1115122"/>
            <a:ext cx="6066534" cy="4605453"/>
          </a:xfrm>
          <a:prstGeom prst="rect">
            <a:avLst/>
          </a:prstGeom>
        </p:spPr>
      </p:pic>
      <p:pic>
        <p:nvPicPr>
          <p:cNvPr id="5" name="Picture Placeholder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BF1F2E09-AC8B-FA01-F1DB-6664D4085F7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428951" y="-1"/>
            <a:ext cx="671503" cy="719667"/>
          </a:xfrm>
        </p:spPr>
      </p:pic>
    </p:spTree>
    <p:extLst>
      <p:ext uri="{BB962C8B-B14F-4D97-AF65-F5344CB8AC3E}">
        <p14:creationId xmlns:p14="http://schemas.microsoft.com/office/powerpoint/2010/main" val="373577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DB6B-4FC7-DA98-CC83-13D730D9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Mexico cities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F727E-7730-3EE9-D7A0-042B721A9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Here the most city consumers of it go to Restaurant is </a:t>
            </a:r>
            <a:r>
              <a:rPr lang="en-US" sz="1800" dirty="0">
                <a:solidFill>
                  <a:srgbClr val="EE0000"/>
                </a:solidFill>
              </a:rPr>
              <a:t>“San Luis Potosi”</a:t>
            </a:r>
          </a:p>
          <a:p>
            <a:r>
              <a:rPr lang="en-US" sz="1800" dirty="0"/>
              <a:t>In Cuernavaca and </a:t>
            </a:r>
            <a:r>
              <a:rPr lang="en-US" sz="1800" dirty="0" err="1"/>
              <a:t>Jiutepec</a:t>
            </a:r>
            <a:r>
              <a:rPr lang="en-US" sz="1800" dirty="0"/>
              <a:t> city unemployment doesn’t go to Restaurants.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B59D4B-ADB5-B113-E157-28A85A53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88" y="996950"/>
            <a:ext cx="5943599" cy="4873625"/>
          </a:xfrm>
          <a:prstGeom prst="rect">
            <a:avLst/>
          </a:prstGeom>
        </p:spPr>
      </p:pic>
      <p:pic>
        <p:nvPicPr>
          <p:cNvPr id="11" name="Content Placeholder 10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DEB99EBB-48BA-ED64-735F-0DA31703C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087" y="1"/>
            <a:ext cx="860424" cy="795866"/>
          </a:xfrm>
        </p:spPr>
      </p:pic>
    </p:spTree>
    <p:extLst>
      <p:ext uri="{BB962C8B-B14F-4D97-AF65-F5344CB8AC3E}">
        <p14:creationId xmlns:p14="http://schemas.microsoft.com/office/powerpoint/2010/main" val="552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05F1-BF40-766C-BA0D-7E2C7C0E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Mexico cities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0F427-44DF-4660-67C3-014342078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600" dirty="0"/>
              <a:t>Here the most city consumers of it go to Restaurant is </a:t>
            </a:r>
            <a:r>
              <a:rPr lang="en-US" sz="1600" dirty="0">
                <a:solidFill>
                  <a:srgbClr val="EE0000"/>
                </a:solidFill>
              </a:rPr>
              <a:t>“San Luis Potosi”</a:t>
            </a:r>
          </a:p>
          <a:p>
            <a:r>
              <a:rPr lang="en-US" sz="1600" dirty="0"/>
              <a:t>In Cuernavaca and </a:t>
            </a:r>
            <a:r>
              <a:rPr lang="en-US" sz="1600" dirty="0" err="1"/>
              <a:t>Jiutepec</a:t>
            </a:r>
            <a:r>
              <a:rPr lang="en-US" sz="1600" dirty="0"/>
              <a:t> city unemployment doesn’t go to Restaurants.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1DE7D-472A-2A61-632A-36AC4BD80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1385655"/>
            <a:ext cx="5943599" cy="4873625"/>
          </a:xfrm>
          <a:prstGeom prst="rect">
            <a:avLst/>
          </a:prstGeom>
        </p:spPr>
      </p:pic>
      <p:pic>
        <p:nvPicPr>
          <p:cNvPr id="5" name="Picture Placeholder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0061E98B-C0ED-A69F-7249-9F1AB4B541C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352211" y="0"/>
            <a:ext cx="692597" cy="747712"/>
          </a:xfrm>
        </p:spPr>
      </p:pic>
    </p:spTree>
    <p:extLst>
      <p:ext uri="{BB962C8B-B14F-4D97-AF65-F5344CB8AC3E}">
        <p14:creationId xmlns:p14="http://schemas.microsoft.com/office/powerpoint/2010/main" val="366784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3F70-FF2B-23E4-4027-C0BD1E20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E0000"/>
                </a:solidFill>
                <a:cs typeface="Arial" panose="020B0604020202020204" pitchFamily="34" charset="0"/>
              </a:rPr>
              <a:t>Budget  &amp; Consumers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55FAB-B3D6-D48D-129D-9090E66DA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our data we have three Budget</a:t>
            </a:r>
          </a:p>
          <a:p>
            <a:r>
              <a:rPr lang="en-US" sz="1800" dirty="0">
                <a:solidFill>
                  <a:srgbClr val="EE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“High, Medium, Low”</a:t>
            </a:r>
          </a:p>
          <a:p>
            <a:r>
              <a:rPr lang="en-US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Budget used is low used by students and come after that Medium Badget.</a:t>
            </a:r>
          </a:p>
          <a:p>
            <a:r>
              <a:rPr lang="en-US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Budget small number use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50EB4-C448-780C-BCA5-B9FA73FD6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980" y="1115122"/>
            <a:ext cx="6044232" cy="4627756"/>
          </a:xfrm>
          <a:prstGeom prst="rect">
            <a:avLst/>
          </a:prstGeom>
        </p:spPr>
      </p:pic>
      <p:pic>
        <p:nvPicPr>
          <p:cNvPr id="5" name="Picture Placeholder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7E0ADA75-2871-A73C-9765-228B77FBF5F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352212" y="0"/>
            <a:ext cx="756708" cy="728133"/>
          </a:xfrm>
        </p:spPr>
      </p:pic>
    </p:spTree>
    <p:extLst>
      <p:ext uri="{BB962C8B-B14F-4D97-AF65-F5344CB8AC3E}">
        <p14:creationId xmlns:p14="http://schemas.microsoft.com/office/powerpoint/2010/main" val="204998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9649-C780-AFB9-0DF2-E2EF9881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Preferences for Each Consumers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88DE8-D748-003E-6950-9AACB60ED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have in our data 101 type of food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But only two types have a high consumption.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EE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“Mexican and American”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E9A23-E2C6-30C8-E8B5-14EB24F29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07" y="1183753"/>
            <a:ext cx="6067155" cy="4685235"/>
          </a:xfrm>
          <a:prstGeom prst="rect">
            <a:avLst/>
          </a:prstGeom>
        </p:spPr>
      </p:pic>
      <p:pic>
        <p:nvPicPr>
          <p:cNvPr id="5" name="Picture Placeholder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F8F04CE4-3BC0-5905-6AE3-32596631593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413068" y="0"/>
            <a:ext cx="664594" cy="694267"/>
          </a:xfrm>
        </p:spPr>
      </p:pic>
    </p:spTree>
    <p:extLst>
      <p:ext uri="{BB962C8B-B14F-4D97-AF65-F5344CB8AC3E}">
        <p14:creationId xmlns:p14="http://schemas.microsoft.com/office/powerpoint/2010/main" val="2339128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DEFF-F019-F77F-E7C5-F36EF162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cs typeface="Arial" panose="020B0604020202020204" pitchFamily="34" charset="0"/>
              </a:rPr>
              <a:t>Food with high Budget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A7A45-CF9A-8013-B110-2BB6ED6BA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+mj-lt"/>
              </a:rPr>
              <a:t>This food with high Budget and here we noticed that Each type of food have categories in Budget </a:t>
            </a:r>
          </a:p>
          <a:p>
            <a:r>
              <a:rPr lang="en-US" sz="1800" dirty="0">
                <a:latin typeface="+mj-lt"/>
              </a:rPr>
              <a:t>Also, this mean that American food isn’t in High Budget.</a:t>
            </a:r>
          </a:p>
          <a:p>
            <a:endParaRPr lang="en-US" sz="18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243F21-BA35-7878-94D4-3DADD14F6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13" y="996950"/>
            <a:ext cx="6172200" cy="4679021"/>
          </a:xfrm>
          <a:prstGeom prst="rect">
            <a:avLst/>
          </a:prstGeom>
        </p:spPr>
      </p:pic>
      <p:pic>
        <p:nvPicPr>
          <p:cNvPr id="5" name="Picture Placeholder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CA77D151-1C40-1A45-0656-5F0C074BF92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249906" y="-1"/>
            <a:ext cx="808215" cy="719667"/>
          </a:xfrm>
        </p:spPr>
      </p:pic>
    </p:spTree>
    <p:extLst>
      <p:ext uri="{BB962C8B-B14F-4D97-AF65-F5344CB8AC3E}">
        <p14:creationId xmlns:p14="http://schemas.microsoft.com/office/powerpoint/2010/main" val="3674593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1339-384D-104E-14D6-5240F7C5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VIP Consumer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84E43-88BA-5F0C-285D-C549B8C08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most customer take orders with low Budget and most consumer take orders overall.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BCFAF4A-D77F-CD96-B855-7FDE200427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9984" b="19984"/>
          <a:stretch>
            <a:fillRect/>
          </a:stretch>
        </p:blipFill>
        <p:spPr>
          <a:xfrm>
            <a:off x="5809191" y="1257300"/>
            <a:ext cx="6172200" cy="4873625"/>
          </a:xfrm>
          <a:prstGeom prst="rect">
            <a:avLst/>
          </a:prstGeom>
        </p:spPr>
      </p:pic>
      <p:pic>
        <p:nvPicPr>
          <p:cNvPr id="3" name="Picture Placeholder 10">
            <a:extLst>
              <a:ext uri="{FF2B5EF4-FFF2-40B4-BE49-F238E27FC236}">
                <a16:creationId xmlns:a16="http://schemas.microsoft.com/office/drawing/2014/main" id="{2E262C1D-356D-B13F-678C-671B2BB5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84" b="19984"/>
          <a:stretch>
            <a:fillRect/>
          </a:stretch>
        </p:blipFill>
        <p:spPr>
          <a:xfrm>
            <a:off x="5699124" y="1257300"/>
            <a:ext cx="6172200" cy="4873625"/>
          </a:xfrm>
          <a:prstGeom prst="rect">
            <a:avLst/>
          </a:prstGeom>
        </p:spPr>
      </p:pic>
      <p:pic>
        <p:nvPicPr>
          <p:cNvPr id="6" name="Picture 5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37EFA513-E4E1-4016-46E2-8A7C28528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212" y="0"/>
            <a:ext cx="714904" cy="71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45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CE3B-FF39-CDBB-5D77-9EA4C06C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C3653-0F07-48B0-BBF0-59FD04BD2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VIP Consumers in High</a:t>
            </a:r>
            <a:r>
              <a:rPr lang="en-US" sz="3200" dirty="0">
                <a:solidFill>
                  <a:srgbClr val="EE0000"/>
                </a:solidFill>
              </a:rPr>
              <a:t>”U1045</a:t>
            </a:r>
            <a:r>
              <a:rPr lang="en-US" sz="3200" dirty="0"/>
              <a:t>” and Medium Budget </a:t>
            </a:r>
            <a:r>
              <a:rPr lang="en-US" sz="3200" dirty="0">
                <a:solidFill>
                  <a:srgbClr val="EE0000"/>
                </a:solidFill>
              </a:rPr>
              <a:t>“U1108”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63CA25-39AE-6369-3A64-D6F9F5864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362200"/>
            <a:ext cx="4174068" cy="889000"/>
          </a:xfrm>
          <a:prstGeom prst="rect">
            <a:avLst/>
          </a:prstGeom>
        </p:spPr>
      </p:pic>
      <p:pic>
        <p:nvPicPr>
          <p:cNvPr id="16" name="Picture Placeholder 15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E07841FE-A41D-BCCC-1A35-A44114AB949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11274725" y="0"/>
            <a:ext cx="802835" cy="785018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87B652-66ED-88C3-C69B-7A90A19C0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988" y="4233333"/>
            <a:ext cx="4174068" cy="8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1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1286</TotalTime>
  <Words>524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Inter</vt:lpstr>
      <vt:lpstr>zeitung</vt:lpstr>
      <vt:lpstr>Office Theme</vt:lpstr>
      <vt:lpstr>Final Report Represented From Dataloops</vt:lpstr>
      <vt:lpstr>Report about Mexico Restaurant Analysis </vt:lpstr>
      <vt:lpstr>Consumer Segments</vt:lpstr>
      <vt:lpstr>Family of consumer</vt:lpstr>
      <vt:lpstr>Discovery Age with Segments</vt:lpstr>
      <vt:lpstr>Ratio of smoking with all segments </vt:lpstr>
      <vt:lpstr>Level of Drinking For Consumers</vt:lpstr>
      <vt:lpstr>Mexico cities</vt:lpstr>
      <vt:lpstr>Mexico cities</vt:lpstr>
      <vt:lpstr>Budget  &amp; Consumers</vt:lpstr>
      <vt:lpstr>Food Preferences for Each Consumers</vt:lpstr>
      <vt:lpstr>Food with high Budget</vt:lpstr>
      <vt:lpstr>VIP Consumer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Radwa Abdelkewy Elfeky</dc:creator>
  <cp:lastModifiedBy>Radwa Abdelkewy Elfeky</cp:lastModifiedBy>
  <cp:revision>5</cp:revision>
  <dcterms:created xsi:type="dcterms:W3CDTF">2025-02-10T22:48:37Z</dcterms:created>
  <dcterms:modified xsi:type="dcterms:W3CDTF">2025-02-11T20:50:57Z</dcterms:modified>
</cp:coreProperties>
</file>